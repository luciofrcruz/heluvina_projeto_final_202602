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c1b374e8ce4e89" /><Relationship Type="http://schemas.openxmlformats.org/officeDocument/2006/relationships/extended-properties" Target="/docProps/app.xml" Id="Rdddafba006fd474e" /><Relationship Type="http://schemas.openxmlformats.org/officeDocument/2006/relationships/officeDocument" Target="/ppt/presentation.xml" Id="R21e425c7b4ce45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560f340e4a4216"/>
  </p:sldMasterIdLst>
  <p:notesMasterIdLst>
    <p:notesMasterId xmlns:r="http://schemas.openxmlformats.org/officeDocument/2006/relationships" r:id="R80d86a7b4b954e52"/>
  </p:notesMasterIdLst>
  <p:sldIdLst>
    <p:sldId xmlns:r="http://schemas.openxmlformats.org/officeDocument/2006/relationships" id="256" r:id="R1c0655c8f0ac4792"/>
    <p:sldId xmlns:r="http://schemas.openxmlformats.org/officeDocument/2006/relationships" id="257" r:id="R0ad3981339a64a13"/>
    <p:sldId xmlns:r="http://schemas.openxmlformats.org/officeDocument/2006/relationships" id="258" r:id="Re5b5b7cbd45b4817"/>
    <p:sldId xmlns:r="http://schemas.openxmlformats.org/officeDocument/2006/relationships" id="259" r:id="Rf199ccac2d5c47b2"/>
    <p:sldId xmlns:r="http://schemas.openxmlformats.org/officeDocument/2006/relationships" id="260" r:id="R709b34c9f1444ab8"/>
    <p:sldId xmlns:r="http://schemas.openxmlformats.org/officeDocument/2006/relationships" id="261" r:id="R0a6df2221c6744e0"/>
    <p:sldId xmlns:r="http://schemas.openxmlformats.org/officeDocument/2006/relationships" id="262" r:id="Rc5f608ef2bfc4ab2"/>
    <p:sldId xmlns:r="http://schemas.openxmlformats.org/officeDocument/2006/relationships" id="263" r:id="R9a43cab628d64948"/>
    <p:sldId xmlns:r="http://schemas.openxmlformats.org/officeDocument/2006/relationships" id="264" r:id="R5bd621b76f3c4bfb"/>
    <p:sldId xmlns:r="http://schemas.openxmlformats.org/officeDocument/2006/relationships" id="265" r:id="R26c7bc658aba4346"/>
    <p:sldId xmlns:r="http://schemas.openxmlformats.org/officeDocument/2006/relationships" id="266" r:id="R4c817f2261334e3e"/>
    <p:sldId xmlns:r="http://schemas.openxmlformats.org/officeDocument/2006/relationships" id="267" r:id="R5156d5fc598e4d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02549d4bb4812" /><Relationship Type="http://schemas.openxmlformats.org/officeDocument/2006/relationships/slideMaster" Target="/ppt/slideMasters/slideMaster1.xml" Id="R0f560f340e4a4216" /><Relationship Type="http://schemas.openxmlformats.org/officeDocument/2006/relationships/notesMaster" Target="/ppt/notesMasters/notesMaster1.xml" Id="R80d86a7b4b954e52" /><Relationship Type="http://schemas.openxmlformats.org/officeDocument/2006/relationships/presProps" Target="/ppt/presProps.xml" Id="R2a9e2bee5f3b48c2" /><Relationship Type="http://schemas.openxmlformats.org/officeDocument/2006/relationships/tableStyles" Target="/ppt/tableStyles.xml" Id="R841e6a23f61245e7" /><Relationship Type="http://schemas.openxmlformats.org/officeDocument/2006/relationships/slide" Target="/ppt/slides/slide1.xml" Id="R1c0655c8f0ac4792" /><Relationship Type="http://schemas.openxmlformats.org/officeDocument/2006/relationships/slide" Target="/ppt/slides/slide2.xml" Id="R0ad3981339a64a13" /><Relationship Type="http://schemas.openxmlformats.org/officeDocument/2006/relationships/slide" Target="/ppt/slides/slide3.xml" Id="Re5b5b7cbd45b4817" /><Relationship Type="http://schemas.openxmlformats.org/officeDocument/2006/relationships/slide" Target="/ppt/slides/slide4.xml" Id="Rf199ccac2d5c47b2" /><Relationship Type="http://schemas.openxmlformats.org/officeDocument/2006/relationships/slide" Target="/ppt/slides/slide5.xml" Id="R709b34c9f1444ab8" /><Relationship Type="http://schemas.openxmlformats.org/officeDocument/2006/relationships/slide" Target="/ppt/slides/slide6.xml" Id="R0a6df2221c6744e0" /><Relationship Type="http://schemas.openxmlformats.org/officeDocument/2006/relationships/slide" Target="/ppt/slides/slide7.xml" Id="Rc5f608ef2bfc4ab2" /><Relationship Type="http://schemas.openxmlformats.org/officeDocument/2006/relationships/slide" Target="/ppt/slides/slide8.xml" Id="R9a43cab628d64948" /><Relationship Type="http://schemas.openxmlformats.org/officeDocument/2006/relationships/slide" Target="/ppt/slides/slide9.xml" Id="R5bd621b76f3c4bfb" /><Relationship Type="http://schemas.openxmlformats.org/officeDocument/2006/relationships/slide" Target="/ppt/slides/slide10.xml" Id="R26c7bc658aba4346" /><Relationship Type="http://schemas.openxmlformats.org/officeDocument/2006/relationships/slide" Target="/ppt/slides/slide11.xml" Id="R4c817f2261334e3e" /><Relationship Type="http://schemas.openxmlformats.org/officeDocument/2006/relationships/slide" Target="/ppt/slides/slide12.xml" Id="R5156d5fc598e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8b461084dc4c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564ecd470b4176" /><Relationship Type="http://schemas.openxmlformats.org/officeDocument/2006/relationships/notesMaster" Target="/ppt/notesMasters/notesMaster1.xml" Id="Ra0edccfd399741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c9ac11008649ba" /><Relationship Type="http://schemas.openxmlformats.org/officeDocument/2006/relationships/notesMaster" Target="/ppt/notesMasters/notesMaster1.xml" Id="R42bc75157f324c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15f30611d94339" /><Relationship Type="http://schemas.openxmlformats.org/officeDocument/2006/relationships/notesMaster" Target="/ppt/notesMasters/notesMaster1.xml" Id="R12fe08cef96f47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0a68f7dbc443be" /><Relationship Type="http://schemas.openxmlformats.org/officeDocument/2006/relationships/notesMaster" Target="/ppt/notesMasters/notesMaster1.xml" Id="Rd446b226415d4f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b892832e6a48bc" /><Relationship Type="http://schemas.openxmlformats.org/officeDocument/2006/relationships/notesMaster" Target="/ppt/notesMasters/notesMaster1.xml" Id="R1626a66ec1c14b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3048be1d5a4ad9" /><Relationship Type="http://schemas.openxmlformats.org/officeDocument/2006/relationships/notesMaster" Target="/ppt/notesMasters/notesMaster1.xml" Id="R6eb99ddd612d49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0698bc361646df" /><Relationship Type="http://schemas.openxmlformats.org/officeDocument/2006/relationships/notesMaster" Target="/ppt/notesMasters/notesMaster1.xml" Id="R434c25ad70c741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890ad605864014" /><Relationship Type="http://schemas.openxmlformats.org/officeDocument/2006/relationships/notesMaster" Target="/ppt/notesMasters/notesMaster1.xml" Id="Re9fa97cd2fc34e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9e5a69166f4d2a" /><Relationship Type="http://schemas.openxmlformats.org/officeDocument/2006/relationships/notesMaster" Target="/ppt/notesMasters/notesMaster1.xml" Id="R16ef85a898014d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5874aec7fe4d9b" /><Relationship Type="http://schemas.openxmlformats.org/officeDocument/2006/relationships/notesMaster" Target="/ppt/notesMasters/notesMaster1.xml" Id="Rc997e39ab0214f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17947a7ece4ec2" /><Relationship Type="http://schemas.openxmlformats.org/officeDocument/2006/relationships/notesMaster" Target="/ppt/notesMasters/notesMaster1.xml" Id="Rbfed697a2a9841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931a920a174f8f" /><Relationship Type="http://schemas.openxmlformats.org/officeDocument/2006/relationships/notesMaster" Target="/ppt/notesMasters/notesMaster1.xml" Id="Rf5271c180254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Hermes | Tempo: 45 s</a:t>
            </a:r>
          </a:p>
          <a:p xmlns:a="http://schemas.openxmlformats.org/drawingml/2006/main">
            <a:r>
              <a:t>Apresente a pergunta central e explique que o projeto converte dados públicos municipais em hipóteses priorizadas para expansão bancária.</a:t>
            </a:r>
          </a:p>
          <a:p xmlns:a="http://schemas.openxmlformats.org/drawingml/2006/main">
            <a:r>
              <a:t>Fontes: https://github.com/LucioFrCruz/heluvina_projeto_final_202602/blob/main/README.md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Hermes | Tempo: 1 min</a:t>
            </a:r>
          </a:p>
          <a:p xmlns:a="http://schemas.openxmlformats.org/drawingml/2006/main">
            <a:r>
              <a:t>Destaque a escala nacional e a diferença entre ausência de agência e ausência de acesso. Os correspondentes mostram que presença bancária tem mais de uma forma.</a:t>
            </a:r>
          </a:p>
          <a:p xmlns:a="http://schemas.openxmlformats.org/drawingml/2006/main">
            <a:r>
              <a:t>Fontes: https://github.com/LucioFrCruz/heluvina_projeto_final_202602/blob/main/README.md | https://github.com/LucioFrCruz/heluvina_projeto_final_202602/blob/main/docs/Relatorio_EDA.md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Hermes | Tempo: 1 min 15 s</a:t>
            </a:r>
          </a:p>
          <a:p xmlns:a="http://schemas.openxmlformats.org/drawingml/2006/main">
            <a:r>
              <a:t>Mostre a sequência completa: as APIs entram nos ingestores Python; os arquivos manuais ficam no GCS; cada coleta ganha cache Parquet; o BigQuery recebe raw; trusted_municipios faz os tratamentos; ipb.py e modelagem.py publicam índices, clusters e os dados do site.</a:t>
            </a:r>
          </a:p>
          <a:p xmlns:a="http://schemas.openxmlformats.org/drawingml/2006/main">
            <a:r>
              <a:t>Fontes: https://github.com/LucioFrCruz/heluvina_projeto_final_202602/blob/main/README.md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Lúcio | Tempo: 1 min 15 s</a:t>
            </a:r>
          </a:p>
          <a:p xmlns:a="http://schemas.openxmlformats.org/drawingml/2006/main">
            <a:r>
              <a:t>Apresente os cinco pilares e a intuição da média geométrica. O índice premia municípios equilibrados e reduz casos com fragilidade extrema em algum pilar.</a:t>
            </a:r>
          </a:p>
          <a:p xmlns:a="http://schemas.openxmlformats.org/drawingml/2006/main">
            <a:r>
              <a:t>Fontes: https://github.com/LucioFrCruz/heluvina_projeto_final_202602/blob/main/README.md | https://github.com/LucioFrCruz/heluvina_projeto_final_202602/blob/main/docs/Relatorio_EDA.md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Lúcio | Tempo: 1 min 20 s</a:t>
            </a:r>
          </a:p>
          <a:p xmlns:a="http://schemas.openxmlformats.org/drawingml/2006/main">
            <a:r>
              <a:t>Mostre que a V3 não vira o ranking de cabeça para baixo. Ela preserva coerência com as versões anteriores e melhora a leitura de concorrência e formalização.</a:t>
            </a:r>
          </a:p>
          <a:p xmlns:a="http://schemas.openxmlformats.org/drawingml/2006/main">
            <a:r>
              <a:t>Fontes: https://github.com/LucioFrCruz/heluvina_projeto_final_202602/blob/main/docs/Relatorio_EDA.md | https://github.com/LucioFrCruz/heluvina_projeto_final_202602/blob/main/docs/Comparacao_Tres_Abordagens_IPB.md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Lúcio | Tempo: 1 min 20 s</a:t>
            </a:r>
          </a:p>
          <a:p xmlns:a="http://schemas.openxmlformats.org/drawingml/2006/main">
            <a:r>
              <a:t>Diferencie agência de acesso bancário. A V3 incorpora correspondentes ponderados, então reduz falsos sinais de vazio bancário.</a:t>
            </a:r>
          </a:p>
          <a:p xmlns:a="http://schemas.openxmlformats.org/drawingml/2006/main">
            <a:r>
              <a:t>Fontes: https://github.com/LucioFrCruz/heluvina_projeto_final_202602/blob/main/docs/Relatorio_EDA.md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Vitor | Tempo: 1 min 15 s</a:t>
            </a:r>
          </a:p>
          <a:p xmlns:a="http://schemas.openxmlformats.org/drawingml/2006/main">
            <a:r>
              <a:t>Apresente o Top 10 como shortlist. Chame atenção para a presença de destinos turísticos e para a necessidade de validar fluxo não residente antes de qualquer decisão.</a:t>
            </a:r>
          </a:p>
          <a:p xmlns:a="http://schemas.openxmlformats.org/drawingml/2006/main">
            <a:r>
              <a:t>Fontes: https://github.com/LucioFrCruz/heluvina_projeto_final_202602/blob/main/docs/Relatorio_EDA.md | https://github.com/LucioFrCruz/heluvina_projeto_final_202602/blob/main/docs/Comparacao_Tres_Abordagens_IPB.md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Vitor | Tempo: 1 min 20 s</a:t>
            </a:r>
          </a:p>
          <a:p xmlns:a="http://schemas.openxmlformats.org/drawingml/2006/main">
            <a:r>
              <a:t>Explique que o cluster não foi nomeado manualmente. O algoritmo agrupou perfis semelhantes; o grupo destacou 653 destinos pequenos, ricos e sem agência.</a:t>
            </a:r>
          </a:p>
          <a:p xmlns:a="http://schemas.openxmlformats.org/drawingml/2006/main">
            <a:r>
              <a:t>Fontes: https://github.com/LucioFrCruz/heluvina_projeto_final_202602/blob/main/docs/Arquetipos_Municipais.md | https://github.com/LucioFrCruz/heluvina_projeto_final_202602/blob/main/docs/Relatorio_Modelagem_Etapa3.md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Vitor | Tempo: 1 min 20 s</a:t>
            </a:r>
          </a:p>
          <a:p xmlns:a="http://schemas.openxmlformats.org/drawingml/2006/main">
            <a:r>
              <a:t>Explique que o classificador reproduz bem a presença atual de agências. A população domina, o que cria o contraste com o IPB, que procura potencial além do simples volume populacional.</a:t>
            </a:r>
          </a:p>
          <a:p xmlns:a="http://schemas.openxmlformats.org/drawingml/2006/main">
            <a:r>
              <a:t>Fontes: https://github.com/LucioFrCruz/heluvina_projeto_final_202602/blob/main/docs/Relatorio_Modelagem_Etapa3.md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Nathalia | Tempo: 1 min 20 s</a:t>
            </a:r>
          </a:p>
          <a:p xmlns:a="http://schemas.openxmlformats.org/drawingml/2006/main">
            <a:r>
              <a:t>Apresente os resíduos como a lista mais direta para validação de negócio. Reforce que probabilidade de presença não equivale a retorno financeiro garantido.</a:t>
            </a:r>
          </a:p>
          <a:p xmlns:a="http://schemas.openxmlformats.org/drawingml/2006/main">
            <a:r>
              <a:t>Fontes: https://github.com/LucioFrCruz/heluvina_projeto_final_202602/blob/main/docs/Relatorio_Modelagem_Etapa3.md | https://github.com/LucioFrCruz/heluvina_projeto_final_202602/blob/main/docs/assets/figures/02_residuos_rank.png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Nathalia | Tempo: 1 min</a:t>
            </a:r>
          </a:p>
          <a:p xmlns:a="http://schemas.openxmlformats.org/drawingml/2006/main">
            <a:r>
              <a:t>Declare as limitações com objetividade. Elas não invalidam o projeto, mas definem o uso correto: priorizar validações, não automatizar uma decisão final.</a:t>
            </a:r>
          </a:p>
          <a:p xmlns:a="http://schemas.openxmlformats.org/drawingml/2006/main">
            <a:r>
              <a:t>Fontes: https://github.com/LucioFrCruz/heluvina_projeto_final_202602/blob/main/docs/Relatorio_EDA.md | https://github.com/LucioFrCruz/heluvina_projeto_final_202602/blob/main/docs/Relatorio_Modelagem_Etapa3.md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sugerido: Nathalia | Tempo: 1 min</a:t>
            </a:r>
          </a:p>
          <a:p xmlns:a="http://schemas.openxmlformats.org/drawingml/2006/main">
            <a:r>
              <a:t>Feche com o uso prático: o projeto reduz o universo de 5.570 municípios para listas que o negócio consegue validar. Convide a banca a discutir qual recorte deve virar a primeira onda.</a:t>
            </a:r>
          </a:p>
          <a:p xmlns:a="http://schemas.openxmlformats.org/drawingml/2006/main">
            <a:r>
              <a:t>Fontes: https://github.com/LucioFrCruz/heluvina_projeto_final_202602/blob/main/README.md | https://github.com/LucioFrCruz/heluvina_projeto_final_202602/blob/main/docs/Relatorio_EDA.md | https://github.com/LucioFrCruz/heluvina_projeto_final_202602/blob/main/docs/Relatorio_Modelagem_Etapa3.md | https://github.com/LucioFrCruz/heluvina_projeto_final_202602/blob/main/docs/Arquetipos_Municipais.md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b2c3ec45747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8adc2e63374208" /><Relationship Type="http://schemas.openxmlformats.org/officeDocument/2006/relationships/slideLayout" Target="/ppt/slideLayouts/slideLayout1.xml" Id="R871aee02cdd54d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1aee02cdd54d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a8cccbe654fce" /><Relationship Type="http://schemas.openxmlformats.org/officeDocument/2006/relationships/image" Target="/ppt/media/image.png" Id="Rdd832c2c1b964b9e" /><Relationship Type="http://schemas.openxmlformats.org/officeDocument/2006/relationships/notesSlide" Target="/ppt/notesSlides/notesSlide1.xml" Id="R2fff8f3634f442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4c00ed7d24271" /><Relationship Type="http://schemas.openxmlformats.org/officeDocument/2006/relationships/notesSlide" Target="/ppt/notesSlides/notesSlide2.xml" Id="Rbb6e7bfef2314c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7bbe9b9264bbc" /><Relationship Type="http://schemas.openxmlformats.org/officeDocument/2006/relationships/image" Target="/ppt/media/image2.png" Id="Rec0a1e9f98f64511" /><Relationship Type="http://schemas.openxmlformats.org/officeDocument/2006/relationships/notesSlide" Target="/ppt/notesSlides/notesSlide3.xml" Id="R4f67104a00d14e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9cee9275f43b8" /><Relationship Type="http://schemas.openxmlformats.org/officeDocument/2006/relationships/notesSlide" Target="/ppt/notesSlides/notesSlide4.xml" Id="R65bf19ad556d4c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acd82d59e4984" /><Relationship Type="http://schemas.openxmlformats.org/officeDocument/2006/relationships/chart" Target="/ppt/slides/charts/chart1.xml" Id="R17f47e8d1e3e4c3e" /><Relationship Type="http://schemas.openxmlformats.org/officeDocument/2006/relationships/notesSlide" Target="/ppt/notesSlides/notesSlide5.xml" Id="Rd82963b2556f49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5a2da38a3418a" /><Relationship Type="http://schemas.openxmlformats.org/officeDocument/2006/relationships/chart" Target="/ppt/slides/charts/chart2.xml" Id="R083c54f401974474" /><Relationship Type="http://schemas.openxmlformats.org/officeDocument/2006/relationships/notesSlide" Target="/ppt/notesSlides/notesSlide6.xml" Id="Rae68e533b3d547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31fe17b7648b1" /><Relationship Type="http://schemas.openxmlformats.org/officeDocument/2006/relationships/notesSlide" Target="/ppt/notesSlides/notesSlide7.xml" Id="R1091991fe4324e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54b0e32384f83" /><Relationship Type="http://schemas.openxmlformats.org/officeDocument/2006/relationships/chart" Target="/ppt/slides/charts/chart3.xml" Id="R1bdbe71e7dd54c95" /><Relationship Type="http://schemas.openxmlformats.org/officeDocument/2006/relationships/notesSlide" Target="/ppt/notesSlides/notesSlide8.xml" Id="R03c5831b77a54a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7f903be234fc5" /><Relationship Type="http://schemas.openxmlformats.org/officeDocument/2006/relationships/chart" Target="/ppt/slides/charts/chart4.xml" Id="Rc8ed99625829452b" /><Relationship Type="http://schemas.openxmlformats.org/officeDocument/2006/relationships/notesSlide" Target="/ppt/notesSlides/notesSlide9.xml" Id="Rf119f2ea9f1c45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9c664a4114789" /><Relationship Type="http://schemas.openxmlformats.org/officeDocument/2006/relationships/image" Target="/ppt/media/image3.png" Id="Rdb1a36df6b414426" /><Relationship Type="http://schemas.openxmlformats.org/officeDocument/2006/relationships/notesSlide" Target="/ppt/notesSlides/notesSlide10.xml" Id="Rbf65017a6b794c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9c361a70a4b24" /><Relationship Type="http://schemas.openxmlformats.org/officeDocument/2006/relationships/notesSlide" Target="/ppt/notesSlides/notesSlide11.xml" Id="Rbaec4e9f664944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7b975a79b4345" /><Relationship Type="http://schemas.openxmlformats.org/officeDocument/2006/relationships/notesSlide" Target="/ppt/notesSlides/notesSlide12.xml" Id="Rfd94dae02f844a7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V1 Clássico</c:v>
          </c:tx>
          <c:spPr>
            <a:solidFill xmlns:a="http://schemas.openxmlformats.org/drawingml/2006/main">
              <a:srgbClr val="7893A3"/>
            </a:solidFill>
          </c:spPr>
          <c:cat>
            <c:strRef>
              <c:f>'Chart Data'!$A$2:$A$6</c:f>
              <c:strCache>
                <c:ptCount val="5"/>
                <c:pt idx="0">
                  <c:v>Centro-Oeste</c:v>
                </c:pt>
                <c:pt idx="1">
                  <c:v>Nordeste</c:v>
                </c:pt>
                <c:pt idx="2">
                  <c:v>Norte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22</c:v>
                </c:pt>
                <c:pt idx="1">
                  <c:v>4</c:v>
                </c:pt>
                <c:pt idx="2">
                  <c:v>2</c:v>
                </c:pt>
                <c:pt idx="3">
                  <c:v>48</c:v>
                </c:pt>
                <c:pt idx="4">
                  <c:v>24</c:v>
                </c:pt>
              </c:numCache>
            </c:numRef>
          </c:val>
        </c:ser>
        <c:ser>
          <c:idx val="1"/>
          <c:order val="1"/>
          <c:tx>
            <c:v>V2 Recalibrado</c:v>
          </c:tx>
          <c:spPr>
            <a:solidFill xmlns:a="http://schemas.openxmlformats.org/drawingml/2006/main">
              <a:srgbClr val="F2B84B"/>
            </a:solidFill>
          </c:spPr>
          <c:cat>
            <c:strRef>
              <c:f>'Chart Data'!$C$2:$C$6</c:f>
              <c:strCache>
                <c:ptCount val="5"/>
                <c:pt idx="0">
                  <c:v>Centro-Oeste</c:v>
                </c:pt>
                <c:pt idx="1">
                  <c:v>Nordeste</c:v>
                </c:pt>
                <c:pt idx="2">
                  <c:v>Norte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20</c:v>
                </c:pt>
                <c:pt idx="1">
                  <c:v>3</c:v>
                </c:pt>
                <c:pt idx="2">
                  <c:v>1</c:v>
                </c:pt>
                <c:pt idx="3">
                  <c:v>51</c:v>
                </c:pt>
                <c:pt idx="4">
                  <c:v>25</c:v>
                </c:pt>
              </c:numCache>
            </c:numRef>
          </c:val>
        </c:ser>
        <c:ser>
          <c:idx val="2"/>
          <c:order val="2"/>
          <c:tx>
            <c:v>V3 Presença Completa</c:v>
          </c:tx>
          <c:spPr>
            <a:solidFill xmlns:a="http://schemas.openxmlformats.org/drawingml/2006/main">
              <a:srgbClr val="16B8C4"/>
            </a:solidFill>
          </c:spPr>
          <c:cat>
            <c:strRef>
              <c:f>'Chart Data'!$E$2:$E$6</c:f>
              <c:strCache>
                <c:ptCount val="5"/>
                <c:pt idx="0">
                  <c:v>Centro-Oeste</c:v>
                </c:pt>
                <c:pt idx="1">
                  <c:v>Nordeste</c:v>
                </c:pt>
                <c:pt idx="2">
                  <c:v>Norte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13</c:v>
                </c:pt>
                <c:pt idx="1">
                  <c:v>8</c:v>
                </c:pt>
                <c:pt idx="2">
                  <c:v>7</c:v>
                </c:pt>
                <c:pt idx="3">
                  <c:v>52</c:v>
                </c:pt>
                <c:pt idx="4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imbus Sans"/>
                  <a:ea typeface="Nimbus Sans"/>
                  <a:cs typeface="Nimbus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3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  <c:majorUnit val="1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2A3A"/>
              </a:solidFill>
              <a:latin typeface="Nimbus Sans"/>
              <a:ea typeface="Nimbus Sans"/>
              <a:cs typeface="Nimbus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% sem agência</c:v>
          </c:tx>
          <c:spPr>
            <a:solidFill xmlns:a="http://schemas.openxmlformats.org/drawingml/2006/main">
              <a:srgbClr val="C8464A"/>
            </a:solidFill>
          </c:spPr>
          <c:cat>
            <c:strRef>
              <c:f>'Chart Data'!$A$2:$A$6</c:f>
              <c:strCache>
                <c:ptCount val="5"/>
                <c:pt idx="0">
                  <c:v>Piauí</c:v>
                </c:pt>
                <c:pt idx="1">
                  <c:v>Tocantins</c:v>
                </c:pt>
                <c:pt idx="2">
                  <c:v>Paraíba</c:v>
                </c:pt>
                <c:pt idx="3">
                  <c:v>Rio Grande do Norte</c:v>
                </c:pt>
                <c:pt idx="4">
                  <c:v>Roraima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82.1</c:v>
                </c:pt>
                <c:pt idx="1">
                  <c:v>80.6</c:v>
                </c:pt>
                <c:pt idx="2">
                  <c:v>79.8</c:v>
                </c:pt>
                <c:pt idx="3">
                  <c:v>77.2</c:v>
                </c:pt>
                <c:pt idx="4">
                  <c:v>66.7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2A3A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3E8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Municípios</c:v>
          </c:tx>
          <c:spPr>
            <a:solidFill xmlns:a="http://schemas.openxmlformats.org/drawingml/2006/main">
              <a:srgbClr val="2F7FB8"/>
            </a:solidFill>
          </c:spPr>
          <c:dPt>
            <c:idx val="4"/>
            <c:invertIfNegative val="0"/>
            <c:spPr>
              <a:solidFill xmlns:a="http://schemas.openxmlformats.org/drawingml/2006/main">
                <a:srgbClr val="F2B84B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Turismo com rede</c:v>
                </c:pt>
                <c:pt idx="1">
                  <c:v>Sem rede, renda baixa</c:v>
                </c:pt>
                <c:pt idx="2">
                  <c:v>Intermediário empresarial</c:v>
                </c:pt>
                <c:pt idx="3">
                  <c:v>Intermediário tradicional</c:v>
                </c:pt>
                <c:pt idx="4">
                  <c:v>Turismo sem banco</c:v>
                </c:pt>
                <c:pt idx="5">
                  <c:v>Sem rede, renda alta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740</c:v>
                </c:pt>
                <c:pt idx="1">
                  <c:v>1278</c:v>
                </c:pt>
                <c:pt idx="2">
                  <c:v>1248</c:v>
                </c:pt>
                <c:pt idx="3">
                  <c:v>919</c:v>
                </c:pt>
                <c:pt idx="4">
                  <c:v>653</c:v>
                </c:pt>
                <c:pt idx="5">
                  <c:v>732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3A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3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Queda de ROC-AUC</c:v>
          </c:tx>
          <c:spPr>
            <a:solidFill xmlns:a="http://schemas.openxmlformats.org/drawingml/2006/main">
              <a:srgbClr val="16B8C4"/>
            </a:solidFill>
          </c:spPr>
          <c:cat>
            <c:strRef>
              <c:f>'Chart Data'!$A$2:$A$6</c:f>
              <c:strCache>
                <c:ptCount val="5"/>
                <c:pt idx="0">
                  <c:v>População total</c:v>
                </c:pt>
                <c:pt idx="1">
                  <c:v>Renda domiciliar pc</c:v>
                </c:pt>
                <c:pt idx="2">
                  <c:v>Alojamento e alimentação</c:v>
                </c:pt>
                <c:pt idx="3">
                  <c:v>População 18–35</c:v>
                </c:pt>
                <c:pt idx="4">
                  <c:v>PIB per capita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0.288</c:v>
                </c:pt>
                <c:pt idx="1">
                  <c:v>0.012</c:v>
                </c:pt>
                <c:pt idx="2">
                  <c:v>0.008</c:v>
                </c:pt>
                <c:pt idx="3">
                  <c:v>0.005</c:v>
                </c:pt>
                <c:pt idx="4">
                  <c:v>0.005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3A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3E8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32c2c1b964b9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11A8C-1385-42BC-9884-60BF6A7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2A">
              <a:alpha val="9490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07C16-8E31-4938-B85A-7B7BB7F5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9537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138AF-2680-4C5A-A105-E346C19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Mapa do Potencial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Bancário Brasileiro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E9CCB-CC5A-49FD-A79E-19272A87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CAE3EA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CAE3EA"/>
                </a:solidFill>
                <a:latin typeface="Nimbus Sans"/>
                <a:ea typeface="Nimbus Sans"/>
                <a:cs typeface="Nimbus Sans"/>
              </a:rPr>
              <a:t>Onde estão os municípios com potencial econômico, adoção digital e baixa concorrência física?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EF9C1-652D-4AA5-9B49-5987BDF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9112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Hermes Augusto  ·  Lúcio Franchi Cruz  ·  Vitor Paes  ·  Nathalia Miranda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2CF0B-3BFA-4BA4-8353-21C893BE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115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8A9B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88A9B8"/>
                </a:solidFill>
                <a:latin typeface="Nimbus Sans"/>
                <a:ea typeface="Nimbus Sans"/>
                <a:cs typeface="Nimbus Sans"/>
              </a:rPr>
              <a:t>MBA Engenharia de Dados  ·  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796144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FBAA2-B4D1-49E7-80C9-0D95BA91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A pergunta de negócio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C05BC-1155-443D-B732-3795700C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537D1-77F7-4BD5-9DAE-CC037B27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CFAD2-F466-4F0B-A0FC-485989DB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810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Quais municípios combinam capacidade econômica, uso digital e espaço para uma oferta bancária?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77FD1-9F5C-416C-9C85-28E90464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61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O índice organiza o território para apoiar campanhas, crédito, serviços digitais e decisões de presença física.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4E555-EB4A-423D-BB4B-7E56F2C6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668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0510D-9804-44D0-9E69-0902A794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002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5.570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E409F-8C74-4B21-98A8-5FE08A73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81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municípios analisados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4FA66-EE44-4FE5-8A52-07672D5B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42DAF-86D3-47EB-8F1A-700D50A8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98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C8464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C8464A"/>
                </a:solidFill>
                <a:latin typeface="Nimbus Sans"/>
                <a:ea typeface="Nimbus Sans"/>
                <a:cs typeface="Nimbus Sans"/>
              </a:rPr>
              <a:t>47,7%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124DA-A256-477B-85A3-4349A71E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908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sem agência bancária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CC39B-59C9-47B3-9934-E61AD7E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89740-AEDE-49DD-BB06-F6347519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F2B84B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F2B84B"/>
                </a:solidFill>
                <a:latin typeface="Nimbus Sans"/>
                <a:ea typeface="Nimbus Sans"/>
                <a:cs typeface="Nimbus Sans"/>
              </a:rPr>
              <a:t>216.873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F07ED-F565-439B-9CE5-162FFC6C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004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correspondentes ativos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E24D6-69A5-4462-88A1-6FFBCB19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767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B52A0-314C-46D1-A02B-906C8F13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O problema não é falta de dados. É transformar sinais diferentes em uma leitura comparável.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161B2-C179-420A-8AA3-4DBC474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rPr>
              <a:t>Fonte: README e Relatório EDA do projeto</a:t>
            </a:r>
          </a:p>
        </p:txBody>
      </p:sp>
    </p:spTree>
    <p:extLst>
      <p:ext uri="{BB962C8B-B14F-4D97-AF65-F5344CB8AC3E}">
        <p14:creationId xmlns:p14="http://schemas.microsoft.com/office/powerpoint/2010/main" val="1637687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25B31-C045-43AD-904E-5D9FC64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Base de dados 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1D768-3118-45DC-AC1B-6A4C50FA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4D93C-19AB-4EE3-9E17-9E9E136F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a1e9f98f64511"/>
          <a:stretch xmlns:a="http://schemas.openxmlformats.org/drawingml/2006/main"/>
        </p:blipFill>
        <p:spPr>
          <a:xfrm xmlns:a="http://schemas.openxmlformats.org/drawingml/2006/main">
            <a:off x="609600" y="1259205"/>
            <a:ext cx="10972800" cy="42062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BC59A-0A55-4D50-9CA5-65854D61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O fluxo registra a origem de cada dado e mantém o processamento reproduzível.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76DC2-BC99-4307-AE92-325E147F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rPr>
              <a:t>Fonte: documentação técnica e README do projeto</a:t>
            </a:r>
          </a:p>
        </p:txBody>
      </p:sp>
    </p:spTree>
    <p:extLst>
      <p:ext uri="{BB962C8B-B14F-4D97-AF65-F5344CB8AC3E}">
        <p14:creationId xmlns:p14="http://schemas.microsoft.com/office/powerpoint/2010/main" val="447225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6B8273-40D8-47E3-BAA9-22647CEE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Como o IPB é calculado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0FD16-A808-437D-A7A2-6DBAEB4D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B62F1-2E8E-440E-A5AB-6BE4E373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A7BD2-B654-416C-92DA-CCFA233C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84412-7082-4191-A75E-822B709D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EC8A9-4F02-44E9-9755-52717876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Capacidade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de consumo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25D07-532C-40E1-96DF-E63ED1CB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A835A-0011-4A22-94E3-9E1927BF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PIB, renda e empregos formais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6FB4B-2999-41BC-809E-5B05847A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573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71061-928A-43C0-8647-5113C620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57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91633-BF84-4D17-8FFC-C023CD42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4792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Dinamismo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financeiro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97077-5BA6-4B85-8F76-63379771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86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6C0D0-08B2-4F3E-A010-6D9ECA56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7662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Pix per capita em 12 meses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72C04-F2BB-4BF0-9487-E3ACFA90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573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32DC4-0825-43B3-8438-815E4847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57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27766-9915-44B8-8EFF-C324BB53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4792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Adoção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digital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31F4F-326B-40AD-9B49-9BC517B9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86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ECC83-72C5-48F2-AF98-0B7FDEAD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7662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Banda larga fixa por habitante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A3F21-6E09-4F69-9317-B775CEE8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573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871E9-703B-4E4E-B235-984F15AB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57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33F27-0553-4EC1-847A-197264DB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4792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Gap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bancário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04997-A10F-49E8-A92E-B92C4EC8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286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FA8DD-61DD-4C0F-97C4-F4E75C31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7662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Agências e correspondentes, com sinal invertido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5434C-648A-4BC0-B25D-0FDFA6A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573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C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34874-81B9-4F76-A990-F54C3187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57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3940C-E41B-4784-BB9A-AABD8230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4792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Perfil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demográfico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0C6EA-37A2-4AAB-A065-71F0EF98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86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4F7EC-749A-40BD-9440-06FB637E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Jovens, urbanização e escolaridade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3099A-5CC8-4E08-A3EB-0C59BE3C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D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F8E726-6AF7-428A-93E0-1B6F7878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IPB = média geométrica dos cinco pilares × 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F6E8E3-8025-4C1F-8CAC-B5CFEAC0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BD4DE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BBD4DE"/>
                </a:solidFill>
                <a:latin typeface="Nimbus Sans"/>
                <a:ea typeface="Nimbus Sans"/>
                <a:cs typeface="Nimbus Sans"/>
              </a:rPr>
              <a:t>A média geométrica reduz a nota quando um município tem um pilar muito fraco.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012799-8208-44AE-9826-E57ACAC1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00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F2B84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2B84B"/>
                </a:solidFill>
                <a:latin typeface="Nimbus Sans"/>
                <a:ea typeface="Nimbus Sans"/>
                <a:cs typeface="Nimbus Sans"/>
              </a:rPr>
              <a:t>V3 dá maior peso ao gap bancário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880B70-96E8-4ECD-A628-590491CD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rPr>
              <a:t>Fonte: README e Relatório EDA do projeto</a:t>
            </a:r>
          </a:p>
        </p:txBody>
      </p:sp>
    </p:spTree>
    <p:extLst>
      <p:ext uri="{BB962C8B-B14F-4D97-AF65-F5344CB8AC3E}">
        <p14:creationId xmlns:p14="http://schemas.microsoft.com/office/powerpoint/2010/main" val="2058969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BB629-934E-4F38-88A5-A762DFA8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A V3 corrige parte do viés de riqueza da primeira versão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EB739-9422-4A10-A7B0-903D3096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EF4A0-614C-46B3-B452-692462EA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4F4B7-EDC1-457F-BA9D-19874C4C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1400E-BACD-4FD4-B120-072E8AEB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81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pesos iguais e foco excessivo em cidades ricas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CC1E7-3F88-4E85-9FF0-7C0ED19D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85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134A5-3A4A-4874-8C6C-61C742BA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V2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2EAC7-92AB-410D-A2B7-09BEC9C9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recalibra pesos e aumenta o papel do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77165-AD73-464F-AFD6-74E76B4A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85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C8738-095C-41D6-A1AD-13311427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V3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24438-3CE9-480C-A88B-94C77E26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inclui correspondentes, empregos formais e presença completa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45468-C508-4A73-B497-B5A2EC13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V3 candidata a oficial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A5CF7-9531-4B8F-8B51-9703116F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667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Top 100 ganha representatividade no Norte e Nordeste e reduz concentração no Centro-Oeste e Sul.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810125" y="1524000"/>
          <a:ext xmlns:a="http://schemas.openxmlformats.org/drawingml/2006/main" cx="657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f47e8d1e3e4c3e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1C327-002B-45CC-98C4-1AEE4E70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rPr>
              <a:t>Top 100 por região. Fonte: Relatório EDA, seção 8</a:t>
            </a:r>
          </a:p>
        </p:txBody>
      </p:sp>
    </p:spTree>
    <p:extLst>
      <p:ext uri="{BB962C8B-B14F-4D97-AF65-F5344CB8AC3E}">
        <p14:creationId xmlns:p14="http://schemas.microsoft.com/office/powerpoint/2010/main" val="1097891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15FCD-3707-48F7-91CE-82882381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Quase metade dos municípios não possui agência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32564-925F-4F5E-8D49-7DF53D6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9FB86-9755-4810-A5A2-262AA57A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BE6F8-1137-4394-AD56-3DB8665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C8464A"/>
                </a:solidFill>
                <a:latin typeface="Nimbus Sans"/>
                <a:ea typeface="Nimbus Sans"/>
                <a:cs typeface="Nimbus Sans"/>
              </a:defRPr>
            </a:pPr>
            <a:r>
              <a:rPr sz="4650" b="1">
                <a:solidFill>
                  <a:srgbClr val="C8464A"/>
                </a:solidFill>
                <a:latin typeface="Nimbus Sans"/>
                <a:ea typeface="Nimbus Sans"/>
                <a:cs typeface="Nimbus Sans"/>
              </a:rPr>
              <a:t>47,68%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9A160-E771-426B-B498-5FD9E602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2.656 municípios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5E2D8-32A3-47D7-8417-BD0F34D9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O gap é maior no Piauí, Tocantins, Paraíba e Rio Grande do Norte.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ECB3C-3951-4BE2-B526-FB80564A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524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71D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FDBC5-0AAC-4BB6-9689-0836DCD7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2B84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2B84B"/>
                </a:solidFill>
                <a:latin typeface="Nimbus Sans"/>
                <a:ea typeface="Nimbus Sans"/>
                <a:cs typeface="Nimbus Sans"/>
              </a:rPr>
              <a:t>720 municípios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66E32-E404-4953-B8F0-81B4EE53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deixam de parecer alto potencial quando os correspondentes entram na conta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619625" y="1562100"/>
          <a:ext xmlns:a="http://schemas.openxmlformats.org/drawingml/2006/main" cx="6762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3c54f401974474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BE856-24FB-40BC-A68A-E2FEFEE2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rPr>
              <a:t>Fonte: Relatório EDA, seção 6</a:t>
            </a:r>
          </a:p>
        </p:txBody>
      </p:sp>
    </p:spTree>
    <p:extLst>
      <p:ext uri="{BB962C8B-B14F-4D97-AF65-F5344CB8AC3E}">
        <p14:creationId xmlns:p14="http://schemas.microsoft.com/office/powerpoint/2010/main" val="886819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2A860-0C7B-4C29-A500-CED4321B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V3 candidata: municípios no topo do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84D4C-BA6D-440F-A979-130AC077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94016-46EC-4577-8200-1A62228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71525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"/>
                <a:gridCol w="4476750"/>
                <a:gridCol w="819150"/>
                <a:gridCol w="1333500"/>
              </a:tblGrid>
              <a:tr h="41044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Rank</a:t>
                      </a:r>
                    </a:p>
                  </a:txBody>
                  <a:tcPr marL="95250" marR="95250" marT="57150" marB="57150" anchor="ctr">
                    <a:solidFill>
                      <a:srgbClr val="071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Município</a:t>
                      </a:r>
                    </a:p>
                  </a:txBody>
                  <a:tcPr marL="95250" marR="95250" marT="57150" marB="57150" anchor="ctr">
                    <a:solidFill>
                      <a:srgbClr val="071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UF</a:t>
                      </a:r>
                    </a:p>
                  </a:txBody>
                  <a:tcPr marL="95250" marR="95250" marT="57150" marB="57150" anchor="ctr">
                    <a:solidFill>
                      <a:srgbClr val="071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IPB</a:t>
                      </a:r>
                    </a:p>
                  </a:txBody>
                  <a:tcPr marL="95250" marR="95250" marT="57150" marB="57150" anchor="ctr">
                    <a:solidFill>
                      <a:srgbClr val="071D2B"/>
                    </a:solidFill>
                  </a:tcPr>
                </a:tc>
              </a:tr>
              <a:tr h="41044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71D2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 marL="95250" marR="95250" marT="57150" marB="57150" anchor="ctr">
                    <a:solidFill>
                      <a:srgbClr val="E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71D2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Bombinhas</a:t>
                      </a:r>
                    </a:p>
                  </a:txBody>
                  <a:tcPr marL="95250" marR="95250" marT="57150" marB="57150" anchor="ctr">
                    <a:solidFill>
                      <a:srgbClr val="E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71D2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SC</a:t>
                      </a:r>
                    </a:p>
                  </a:txBody>
                  <a:tcPr marL="95250" marR="95250" marT="57150" marB="57150" anchor="ctr">
                    <a:solidFill>
                      <a:srgbClr val="E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71D2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73,33</a:t>
                      </a:r>
                    </a:p>
                  </a:txBody>
                  <a:tcPr marL="95250" marR="95250" marT="57150" marB="57150" anchor="ctr">
                    <a:solidFill>
                      <a:srgbClr val="E3F7F8"/>
                    </a:solidFill>
                  </a:tcPr>
                </a:tc>
              </a:tr>
              <a:tr h="41044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Nova Lima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MG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72,41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Confins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MG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71,97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Balneário Camboriú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SC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71,00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Eusébio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70,65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Itapema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SC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70,39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Palmas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70,27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Santana de Parnaíba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SP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70,19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Florianópolis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SC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68,85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Santa Rita do Trivelato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3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68,74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D0C0A-9355-4A51-B9E8-2783D6D0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73,33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5DA94-F2F1-42F0-8CF1-7E6AEFF1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Bombinhas lidera a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63B08-28D1-45DE-9E65-AC87C4E8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E5476-F009-4F21-AF33-A98B8DBC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O Top 10 mistura turismo, polos de renda e cidades com alta formalização.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811E6-6587-4D52-8C5C-E51EBA06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86300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464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C8464A"/>
                </a:solidFill>
                <a:latin typeface="Nimbus Sans"/>
                <a:ea typeface="Nimbus Sans"/>
                <a:cs typeface="Nimbus Sans"/>
              </a:rPr>
              <a:t>O ranking prioriza investigação. Ele não substitui validação de demanda e viabilidade operacional.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B5091-00B7-47CC-A01C-693BCF9D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rPr>
              <a:t>Fonte: Relatório EDA, seção 8.2</a:t>
            </a:r>
          </a:p>
        </p:txBody>
      </p:sp>
    </p:spTree>
    <p:extLst>
      <p:ext uri="{BB962C8B-B14F-4D97-AF65-F5344CB8AC3E}">
        <p14:creationId xmlns:p14="http://schemas.microsoft.com/office/powerpoint/2010/main" val="1362301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AD67A-703B-45C3-8E87-0EF35AAC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Seis arquétipos transformam o ranking em histórias de negócio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D03C7-9206-4FB3-9730-B00AF185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93A22-A5DF-42A3-A97F-4461B803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7239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dbe71e7dd54c9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50EED-4ECA-4BF5-A150-3AE3D24C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Turismo sem banco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0500C-D024-4C02-962C-30CCA0B4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2B84B"/>
                </a:solidFill>
                <a:latin typeface="Nimbus Sans"/>
                <a:ea typeface="Nimbus Sans"/>
                <a:cs typeface="Nimbus Sans"/>
              </a:defRPr>
            </a:pPr>
            <a:r>
              <a:rPr sz="4500" b="1">
                <a:solidFill>
                  <a:srgbClr val="F2B84B"/>
                </a:solidFill>
                <a:latin typeface="Nimbus Sans"/>
                <a:ea typeface="Nimbus Sans"/>
                <a:cs typeface="Nimbus Sans"/>
              </a:rPr>
              <a:t>653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1C1A1-78A5-4EBD-94DF-1347D7B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municípios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E5A3B-FE6B-4BCE-AC18-F53CEDBF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CD881-7FC2-41F0-98E7-A6B8EA0F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85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100% sem agência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População média: 6.089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PIB per capita: R$ 60,7 mil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IPB médio: 43,0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92392-D84C-456A-BC80-925555EE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9587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É o arquétipo que melhor resume a tese do projeto: município pequeno, rico e ainda sem agência.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ECA2B-C961-4911-91A1-E572D3F3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rPr>
              <a:t>Fonte: Arquétipos Municipais e Relatório de Modelagem</a:t>
            </a:r>
          </a:p>
        </p:txBody>
      </p:sp>
    </p:spTree>
    <p:extLst>
      <p:ext uri="{BB962C8B-B14F-4D97-AF65-F5344CB8AC3E}">
        <p14:creationId xmlns:p14="http://schemas.microsoft.com/office/powerpoint/2010/main" val="1277818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6384C-9163-4C30-982D-AFD793F6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O modelo confirma onde a presença bancária faz sentido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38D15-CB69-4B93-9B82-F279584A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9866B-4BA5-4724-8F8A-43B4B610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5C307-2920-4EC7-88FA-B0F9FF23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0,939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326FD-937F-4BE2-ABBE-7BA4A752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ROC-AUC do Random Forest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B2C80-97F7-4FFB-9F56-A5A4304B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72092-16FB-42F0-80D5-5E3E74BE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0,873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1C42F-7549-4B2E-8F92-1D12295B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F1 no conjunto de teste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E8215-2BA9-4F89-8D91-C9232174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C3A8F-0355-4349-8A28-19B8FBD3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O modelo usa somente 13 variáveis socioeconômicas e digitais. Nenhuma métrica bancária entra como preditora.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286250" y="1504950"/>
          <a:ext xmlns:a="http://schemas.openxmlformats.org/drawingml/2006/main" cx="704850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ed99625829452b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CB2F0-663F-44D0-AF82-F7551EEB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816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População domina a decisão observada de presença física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7C039-3101-4CDF-A23C-759B7C5F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rPr>
              <a:t>Importância por permutação. Fonte: Relatório de Modelagem, seção 4</a:t>
            </a:r>
          </a:p>
        </p:txBody>
      </p:sp>
    </p:spTree>
    <p:extLst>
      <p:ext uri="{BB962C8B-B14F-4D97-AF65-F5344CB8AC3E}">
        <p14:creationId xmlns:p14="http://schemas.microsoft.com/office/powerpoint/2010/main" val="655821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8F844-0006-48EF-A087-7C6355F7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56 municípios têm perfil bancarizado, mas seguem sem agência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27C23-86B7-4B52-A2DC-F0D054A4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71639-55EA-4FB7-AFAC-99596A0B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a36df6b414426"/>
          <a:stretch xmlns:a="http://schemas.openxmlformats.org/drawingml/2006/main"/>
        </p:blipFill>
        <p:spPr>
          <a:xfrm xmlns:a="http://schemas.openxmlformats.org/drawingml/2006/main">
            <a:off x="4206586" y="1352550"/>
            <a:ext cx="7360227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E0024-3263-46D5-BB02-DF27DF80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C8464A"/>
                </a:solidFill>
                <a:latin typeface="Nimbus Sans"/>
                <a:ea typeface="Nimbus Sans"/>
                <a:cs typeface="Nimbus Sans"/>
              </a:defRPr>
            </a:pPr>
            <a:r>
              <a:rPr sz="4800" b="1">
                <a:solidFill>
                  <a:srgbClr val="C8464A"/>
                </a:solidFill>
                <a:latin typeface="Nimbus Sans"/>
                <a:ea typeface="Nimbus Sans"/>
                <a:cs typeface="Nimbus Sans"/>
              </a:rPr>
              <a:t>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1DE89-973A-42F7-9873-C585C55A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resíduos de oportunidade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219A0-3B9D-4C32-B920-99500BA8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O modelo estimou pelo menos 50% de chance de agência, mas a cidade não possui uma.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4E544-7759-490E-9823-E13A38C2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65C3D-CE03-4AAC-B8F4-ECA7E9F5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Destaques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13015-020A-4C71-B5D7-5B0F481D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Bombinhas · SC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Colniza · MT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71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71D2B"/>
                </a:solidFill>
                <a:latin typeface="Nimbus Sans"/>
                <a:ea typeface="Nimbus Sans"/>
                <a:cs typeface="Nimbus Sans"/>
              </a:rPr>
              <a:t>Balneário Rincão · SC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2FA59-BC3D-4441-9511-1A221C6F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rPr>
              <a:t>Vermelho = perfil de bancarizado sem agência. Fonte: Relatório de Modelagem</a:t>
            </a:r>
          </a:p>
        </p:txBody>
      </p:sp>
    </p:spTree>
    <p:extLst>
      <p:ext uri="{BB962C8B-B14F-4D97-AF65-F5344CB8AC3E}">
        <p14:creationId xmlns:p14="http://schemas.microsoft.com/office/powerpoint/2010/main" val="700702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F771F-4D26-4300-90C1-73EBAEEA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Limitações que acompanham a decisão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07A41-2629-4054-A389-2D7B7E83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68E4B-4090-4AF6-B894-7B0ACA59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F37C6-4820-4A06-B002-5F50F8A5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C8464A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C8464A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FDCB8-2A21-4B2D-B3BA-1E373C7D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428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Alvo proxy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1235D-1E83-419D-BF9B-B1E0EB1F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704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Não existe um rótulo de oportunidade real. Os modelos aprendem padrões da presença bancária atual.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C61AA-BF4E-42B0-B040-7BE8573D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C0CB1-77E5-437E-96F6-6797250C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427B7-42E0-44D2-91FD-4DF0655B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Datas diferentes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F1C1C-9CF2-4E8F-A2DA-43613754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704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A base combina Censo 2022, PIB 2023, CEMPRE 2024 e dados financeiros de 2025–2026.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20687-7609-4300-A54F-0BC2C7C9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F5780-0EEF-4823-95D7-BB665264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2F97C-5B19-4C3E-BCCA-B8108D16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52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Efeito regional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0DE61-1CCF-44EF-9EC0-757B578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704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Municípios próximos a polos podem parecer desatendidos porque a demanda flui para cidades vizinhas.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9E213-0725-4A77-B23E-A199100C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0146D-6760-4D17-86E7-C6B9B3DC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6B8C4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6B8C4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A12EC-FEE6-47A3-A293-27BDEAC8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02A3A"/>
                </a:solidFill>
                <a:latin typeface="Nimbus Sans"/>
                <a:ea typeface="Nimbus Sans"/>
                <a:cs typeface="Nimbus Sans"/>
              </a:rPr>
              <a:t>Heurísticas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13BEF-7F0A-40AE-B460-429B6994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704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798A"/>
                </a:solidFill>
                <a:latin typeface="Nimbus Sans"/>
                <a:ea typeface="Nimbus Sans"/>
                <a:cs typeface="Nimbus Sans"/>
              </a:rPr>
              <a:t>Turismo e pesos dos correspondentes são aproximações que precisam de validação com negócio.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414C0-17D8-48F9-8FB7-4225B304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defRPr>
            </a:pPr>
            <a:r>
              <a:rPr sz="825" b="0">
                <a:solidFill>
                  <a:srgbClr val="7C929E"/>
                </a:solidFill>
                <a:latin typeface="Nimbus Sans"/>
                <a:ea typeface="Nimbus Sans"/>
                <a:cs typeface="Nimbus Sans"/>
              </a:rPr>
              <a:t>Fonte: Relatório EDA, seção 10, e Relatório de Modelagem, seção 9</a:t>
            </a:r>
          </a:p>
        </p:txBody>
      </p:sp>
    </p:spTree>
    <p:extLst>
      <p:ext uri="{BB962C8B-B14F-4D97-AF65-F5344CB8AC3E}">
        <p14:creationId xmlns:p14="http://schemas.microsoft.com/office/powerpoint/2010/main" val="16677260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8865E-326A-474E-94F8-4B89C8DB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Próxima etapa: validar e priorizar ondas de expansão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16E4E-11F3-4B4C-AE31-DE89A418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4BC1A-D670-41D7-B77C-07A9F439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5ED8D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5ED8DF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0D98F-67A2-466A-A0EB-CFACD3DF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Do ranking à decisão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27D57-F03B-4950-97ED-A202DD48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BBD4DE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BBD4DE"/>
                </a:solidFill>
                <a:latin typeface="Nimbus Sans"/>
                <a:ea typeface="Nimbus Sans"/>
                <a:cs typeface="Nimbus Sans"/>
              </a:rPr>
              <a:t>O projeto entrega três recortes complementares para discussão com negócio.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7CCF4-DDBB-4112-8792-64542728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2B84B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F2B84B"/>
                </a:solidFill>
                <a:latin typeface="Nimbus Sans"/>
                <a:ea typeface="Nimbus Sans"/>
                <a:cs typeface="Nimbus Sans"/>
              </a:rPr>
              <a:t>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E5852-B0CF-4DF1-8DF1-2CDD683F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813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municípios com perfil bancarizado e sem agência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8DA66-65DE-4F32-AEA1-C8680DDD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5ED8DF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5ED8DF"/>
                </a:solidFill>
                <a:latin typeface="Nimbus Sans"/>
                <a:ea typeface="Nimbus Sans"/>
                <a:cs typeface="Nimbus Sans"/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C9BB4-47FD-413A-B344-E80C3CEA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7672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municípios prioritários no ranking da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F21B4-0E42-4512-A496-0404D971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5ED8DF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5ED8DF"/>
                </a:solidFill>
                <a:latin typeface="Nimbus Sans"/>
                <a:ea typeface="Nimbus Sans"/>
                <a:cs typeface="Nimbus Sans"/>
              </a:rPr>
              <a:t>653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7B300-1462-4769-A16F-B7A4D089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720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municípios do arquétipo turismo sem banco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6F93D-EDB2-486D-A636-3D8B3A33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62100"/>
            <a:ext cx="45720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0D2B3C"/>
          </a:solidFill>
          <a:ln xmlns:a="http://schemas.openxmlformats.org/drawingml/2006/main" w="9525">
            <a:solidFill>
              <a:srgbClr val="2B4A5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3E64A-6FA4-4BDD-9A87-A3A28F8D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2B84B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2B84B"/>
                </a:solidFill>
                <a:latin typeface="Nimbus Sans"/>
                <a:ea typeface="Nimbus Sans"/>
                <a:cs typeface="Nimbus Sans"/>
              </a:rPr>
              <a:t>Decisões seguintes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D2A6C-5C1E-40A9-8735-E65BB554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7950"/>
            <a:ext cx="36195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  Validar os casos com conhecimento de mercado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  Escolher a versão oficial do IPB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  Definir Top 50, Top 100 e critérios de entrada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  Enriquecer o modelo com 4G/5G, CNPJ, Caged e visitação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FFDC9-C3C5-4301-A252-7C452D26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FB9C6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9FB9C6"/>
                </a:solidFill>
                <a:latin typeface="Nimbus Sans"/>
                <a:ea typeface="Nimbus Sans"/>
                <a:cs typeface="Nimbus Sans"/>
              </a:rPr>
              <a:t>As listas são hipóteses de oportunidade para validação, não recomendações automáticas de abertura de agência.</a:t>
            </a:r>
          </a:p>
        </p:txBody>
      </p:sp>
    </p:spTree>
    <p:extLst>
      <p:ext uri="{BB962C8B-B14F-4D97-AF65-F5344CB8AC3E}">
        <p14:creationId xmlns:p14="http://schemas.microsoft.com/office/powerpoint/2010/main" val="1386960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2026-09-16T13:34:03.5350000Z</dcterms:created>
  <dcterms:modified xsi:type="dcterms:W3CDTF">2026-09-16T13:34:03.5350000Z</dcterms:modified>
</coreProperties>
</file>